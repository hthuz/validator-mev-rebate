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3"/>
    <p:sldId id="257" r:id="rId4"/>
    <p:sldId id="258" r:id="rId5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34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emf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noFill/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Object -2147482624"/>
          <p:cNvGraphicFramePr/>
          <p:nvPr/>
        </p:nvGraphicFramePr>
        <p:xfrm>
          <a:off x="745490" y="2974023"/>
          <a:ext cx="5607050" cy="2216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6181725" imgH="2438400" progId="Visio.Drawing.11">
                  <p:embed/>
                </p:oleObj>
              </mc:Choice>
              <mc:Fallback>
                <p:oleObj name="" r:id="rId1" imgW="6181725" imgH="2438400" progId="Visio.Drawing.11">
                  <p:embed/>
                  <p:pic>
                    <p:nvPicPr>
                      <p:cNvPr id="0" name="Picture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45490" y="2974023"/>
                        <a:ext cx="5607050" cy="22167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5"/>
          <p:cNvSpPr txBox="1"/>
          <p:nvPr/>
        </p:nvSpPr>
        <p:spPr>
          <a:xfrm>
            <a:off x="6703060" y="514350"/>
            <a:ext cx="4276090" cy="64516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/>
              <a:t>数据采集模块</a:t>
            </a:r>
            <a:endParaRPr lang="zh-CN" altLang="en-US"/>
          </a:p>
          <a:p>
            <a:pPr algn="ctr"/>
            <a:r>
              <a:rPr lang="zh-CN" altLang="en-US"/>
              <a:t>采集区块生产者行为观测数据</a:t>
            </a:r>
            <a:endParaRPr lang="zh-CN" altLang="en-US"/>
          </a:p>
        </p:txBody>
      </p:sp>
      <p:sp>
        <p:nvSpPr>
          <p:cNvPr id="7" name="Text Box 6"/>
          <p:cNvSpPr txBox="1"/>
          <p:nvPr/>
        </p:nvSpPr>
        <p:spPr>
          <a:xfrm>
            <a:off x="6703060" y="1597025"/>
            <a:ext cx="4276090" cy="64516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/>
              <a:t>区块生产者画像模块</a:t>
            </a:r>
            <a:endParaRPr lang="zh-CN" altLang="en-US"/>
          </a:p>
          <a:p>
            <a:pPr algn="ctr"/>
            <a:r>
              <a:rPr lang="zh-CN" altLang="en-US"/>
              <a:t>维护行为统计、动态评分和历史状态   </a:t>
            </a:r>
            <a:endParaRPr lang="zh-CN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6703060" y="2679700"/>
            <a:ext cx="4276090" cy="64516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Reward</a:t>
            </a:r>
            <a:r>
              <a:rPr lang="zh-CN" altLang="en-US"/>
              <a:t>学习模块</a:t>
            </a:r>
            <a:endParaRPr lang="zh-CN" altLang="en-US"/>
          </a:p>
          <a:p>
            <a:pPr algn="ctr"/>
            <a:r>
              <a:rPr lang="zh-CN" altLang="en-US"/>
              <a:t> 生成近期收益质量学习信号 </a:t>
            </a:r>
            <a:endParaRPr lang="zh-CN" altLang="en-US"/>
          </a:p>
        </p:txBody>
      </p:sp>
      <p:sp>
        <p:nvSpPr>
          <p:cNvPr id="10" name="Text Box 9"/>
          <p:cNvSpPr txBox="1"/>
          <p:nvPr/>
        </p:nvSpPr>
        <p:spPr>
          <a:xfrm>
            <a:off x="6703060" y="3762375"/>
            <a:ext cx="4276090" cy="64516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/>
              <a:t>分层控制模块</a:t>
            </a:r>
            <a:endParaRPr lang="zh-CN" altLang="en-US"/>
          </a:p>
          <a:p>
            <a:pPr algn="ctr"/>
            <a:r>
              <a:rPr lang="zh-CN" altLang="en-US"/>
              <a:t>基于探索与利用机制进行评估与调度       </a:t>
            </a:r>
            <a:endParaRPr lang="zh-CN" altLang="en-US"/>
          </a:p>
        </p:txBody>
      </p:sp>
      <p:sp>
        <p:nvSpPr>
          <p:cNvPr id="14" name="Text Box 13"/>
          <p:cNvSpPr txBox="1"/>
          <p:nvPr/>
        </p:nvSpPr>
        <p:spPr>
          <a:xfrm>
            <a:off x="6703060" y="4845050"/>
            <a:ext cx="4276090" cy="64516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/>
              <a:t>结果输出模块</a:t>
            </a:r>
            <a:endParaRPr lang="zh-CN" altLang="en-US"/>
          </a:p>
          <a:p>
            <a:pPr algn="ctr"/>
            <a:r>
              <a:rPr lang="zh-CN" altLang="en-US"/>
              <a:t>输出、健康评估、准入建议或调度结果 </a:t>
            </a:r>
            <a:endParaRPr lang="zh-CN" altLang="en-US"/>
          </a:p>
        </p:txBody>
      </p:sp>
      <p:sp>
        <p:nvSpPr>
          <p:cNvPr id="15" name="Text Box 14"/>
          <p:cNvSpPr txBox="1"/>
          <p:nvPr/>
        </p:nvSpPr>
        <p:spPr>
          <a:xfrm>
            <a:off x="6703060" y="5927725"/>
            <a:ext cx="4276090" cy="64516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/>
              <a:t>指标记录模块</a:t>
            </a:r>
            <a:endParaRPr lang="zh-CN" altLang="en-US"/>
          </a:p>
          <a:p>
            <a:pPr algn="ctr"/>
            <a:r>
              <a:rPr lang="zh-CN" altLang="en-US"/>
              <a:t>记录评分变化、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reward</a:t>
            </a:r>
            <a:r>
              <a:rPr lang="zh-CN" altLang="en-US"/>
              <a:t>变化和决策结果</a:t>
            </a:r>
            <a:endParaRPr lang="zh-CN" altLang="en-US"/>
          </a:p>
        </p:txBody>
      </p:sp>
      <p:cxnSp>
        <p:nvCxnSpPr>
          <p:cNvPr id="16" name="Straight Arrow Connector 15"/>
          <p:cNvCxnSpPr>
            <a:stCxn id="6" idx="2"/>
            <a:endCxn id="7" idx="0"/>
          </p:cNvCxnSpPr>
          <p:nvPr/>
        </p:nvCxnSpPr>
        <p:spPr>
          <a:xfrm>
            <a:off x="8841105" y="1159510"/>
            <a:ext cx="0" cy="4375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8841105" y="2242185"/>
            <a:ext cx="0" cy="4375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9" idx="2"/>
            <a:endCxn id="10" idx="0"/>
          </p:cNvCxnSpPr>
          <p:nvPr/>
        </p:nvCxnSpPr>
        <p:spPr>
          <a:xfrm>
            <a:off x="8841105" y="3324860"/>
            <a:ext cx="0" cy="4375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0" idx="2"/>
            <a:endCxn id="14" idx="0"/>
          </p:cNvCxnSpPr>
          <p:nvPr/>
        </p:nvCxnSpPr>
        <p:spPr>
          <a:xfrm>
            <a:off x="8841105" y="4407535"/>
            <a:ext cx="0" cy="4375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4" idx="2"/>
            <a:endCxn id="15" idx="0"/>
          </p:cNvCxnSpPr>
          <p:nvPr/>
        </p:nvCxnSpPr>
        <p:spPr>
          <a:xfrm>
            <a:off x="8841105" y="5490210"/>
            <a:ext cx="0" cy="4375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ext Box 5"/>
          <p:cNvSpPr txBox="1"/>
          <p:nvPr/>
        </p:nvSpPr>
        <p:spPr>
          <a:xfrm>
            <a:off x="4130040" y="231140"/>
            <a:ext cx="3442970" cy="3683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/>
              <a:t>  获取所有区块生产者候选集合</a:t>
            </a:r>
            <a:endParaRPr lang="zh-CN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4130040" y="936625"/>
            <a:ext cx="3442970" cy="119888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/>
              <a:t>  满足</a:t>
            </a:r>
            <a:r>
              <a:rPr lang="en-US" altLang="zh-CN"/>
              <a:t> 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E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xploration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/>
              <a:t>候选条件？</a:t>
            </a:r>
            <a:endParaRPr lang="zh-CN" altLang="en-US"/>
          </a:p>
          <a:p>
            <a:pPr algn="ctr"/>
            <a:r>
              <a:rPr lang="en-US" altLang="zh-CN"/>
              <a:t>1. </a:t>
            </a:r>
            <a:r>
              <a:rPr lang="zh-CN" altLang="en-US"/>
              <a:t>样本数 &lt; 阈值</a:t>
            </a:r>
            <a:endParaRPr lang="zh-CN" altLang="en-US"/>
          </a:p>
          <a:p>
            <a:pPr algn="ctr"/>
            <a:r>
              <a:rPr lang="en-US" altLang="zh-CN"/>
              <a:t>2. 注册时间 &lt; 宽限期</a:t>
            </a:r>
            <a:endParaRPr lang="en-US" altLang="zh-CN"/>
          </a:p>
          <a:p>
            <a:pPr algn="ctr"/>
            <a:r>
              <a:rPr lang="en-US" altLang="zh-CN"/>
              <a:t>3. 观测数据不充分</a:t>
            </a:r>
            <a:endParaRPr lang="en-US" altLang="zh-CN"/>
          </a:p>
        </p:txBody>
      </p:sp>
      <p:sp>
        <p:nvSpPr>
          <p:cNvPr id="9" name="Text Box 8"/>
          <p:cNvSpPr txBox="1"/>
          <p:nvPr/>
        </p:nvSpPr>
        <p:spPr>
          <a:xfrm>
            <a:off x="2305685" y="2663190"/>
            <a:ext cx="2458085" cy="203009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/>
              <a:t>  </a:t>
            </a: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Exploration </a:t>
            </a:r>
            <a:r>
              <a:rPr lang="zh-CN" altLang="en-US"/>
              <a:t>层</a:t>
            </a:r>
            <a:endParaRPr lang="zh-CN" altLang="en-US"/>
          </a:p>
          <a:p>
            <a:pPr algn="ctr"/>
            <a:endParaRPr lang="en-US"/>
          </a:p>
          <a:p>
            <a:pPr algn="ctr"/>
            <a:r>
              <a:rPr lang="zh-CN" altLang="en-US"/>
              <a:t>预期收益</a:t>
            </a:r>
            <a:endParaRPr lang="zh-CN" altLang="en-US"/>
          </a:p>
          <a:p>
            <a:pPr algn="ctr"/>
            <a:r>
              <a:rPr lang="zh-CN" altLang="en-US"/>
              <a:t>样本不足补偿</a:t>
            </a:r>
            <a:endParaRPr lang="zh-CN" altLang="en-US"/>
          </a:p>
          <a:p>
            <a:pPr algn="ctr"/>
            <a:r>
              <a:rPr lang="zh-CN" altLang="en-US"/>
              <a:t>新生产者奖励</a:t>
            </a:r>
            <a:endParaRPr lang="zh-CN" altLang="en-US"/>
          </a:p>
          <a:p>
            <a:pPr algn="ctr"/>
            <a:r>
              <a:rPr lang="zh-CN" altLang="en-US"/>
              <a:t>不确定性权重</a:t>
            </a:r>
            <a:endParaRPr lang="zh-CN" altLang="en-US"/>
          </a:p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UCB bonus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7037705" y="2663825"/>
            <a:ext cx="2458085" cy="203009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/>
              <a:t>  </a:t>
            </a: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Exploitation</a:t>
            </a:r>
            <a:r>
              <a:rPr lang="en-US"/>
              <a:t>层</a:t>
            </a:r>
            <a:endParaRPr lang="en-US"/>
          </a:p>
          <a:p>
            <a:pPr algn="ctr"/>
            <a:endParaRPr lang="en-US"/>
          </a:p>
          <a:p>
            <a:pPr algn="ctr"/>
            <a:r>
              <a:rPr lang="zh-CN" altLang="en-US">
                <a:sym typeface="+mn-ea"/>
              </a:rPr>
              <a:t>预期收益</a:t>
            </a:r>
            <a:endParaRPr lang="zh-CN" altLang="en-US"/>
          </a:p>
          <a:p>
            <a:pPr algn="ctr"/>
            <a:r>
              <a:rPr lang="zh-CN" altLang="en-US"/>
              <a:t>动态评分</a:t>
            </a:r>
            <a:endParaRPr lang="zh-CN" altLang="en-US"/>
          </a:p>
          <a:p>
            <a:pPr algn="ctr"/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Reward</a:t>
            </a:r>
            <a:r>
              <a:rPr lang="zh-CN" altLang="en-US"/>
              <a:t>学习结果</a:t>
            </a:r>
            <a:endParaRPr lang="zh-CN" altLang="en-US"/>
          </a:p>
          <a:p>
            <a:pPr algn="ctr"/>
            <a:r>
              <a:rPr lang="zh-CN" altLang="en-US"/>
              <a:t>竞争集中度惩罚</a:t>
            </a:r>
            <a:endParaRPr lang="zh-CN" altLang="en-US"/>
          </a:p>
          <a:p>
            <a:pPr algn="ctr"/>
            <a:endParaRPr lang="en-US" altLang="zh-CN"/>
          </a:p>
        </p:txBody>
      </p:sp>
      <p:sp>
        <p:nvSpPr>
          <p:cNvPr id="12" name="Text Box 11"/>
          <p:cNvSpPr txBox="1"/>
          <p:nvPr/>
        </p:nvSpPr>
        <p:spPr>
          <a:xfrm>
            <a:off x="4130040" y="5221605"/>
            <a:ext cx="3442970" cy="64516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/>
              <a:t>  按分值加权随机选择目标区块生产者 </a:t>
            </a:r>
            <a:endParaRPr lang="zh-CN" altLang="en-US"/>
          </a:p>
        </p:txBody>
      </p:sp>
      <p:sp>
        <p:nvSpPr>
          <p:cNvPr id="13" name="Text Box 12"/>
          <p:cNvSpPr txBox="1"/>
          <p:nvPr/>
        </p:nvSpPr>
        <p:spPr>
          <a:xfrm>
            <a:off x="4130040" y="6188710"/>
            <a:ext cx="3442970" cy="3683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/>
              <a:t>  输出评估或调度结果 </a:t>
            </a:r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 flipV="1">
            <a:off x="2306320" y="3122295"/>
            <a:ext cx="2452370" cy="635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7043420" y="3115945"/>
            <a:ext cx="2452370" cy="635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6" idx="2"/>
            <a:endCxn id="5" idx="0"/>
          </p:cNvCxnSpPr>
          <p:nvPr/>
        </p:nvCxnSpPr>
        <p:spPr>
          <a:xfrm>
            <a:off x="5851525" y="599440"/>
            <a:ext cx="0" cy="33718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2" idx="2"/>
            <a:endCxn id="13" idx="0"/>
          </p:cNvCxnSpPr>
          <p:nvPr/>
        </p:nvCxnSpPr>
        <p:spPr>
          <a:xfrm>
            <a:off x="5851525" y="5866765"/>
            <a:ext cx="0" cy="32194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/>
          <p:cNvCxnSpPr/>
          <p:nvPr/>
        </p:nvCxnSpPr>
        <p:spPr>
          <a:xfrm rot="5400000">
            <a:off x="4429125" y="1240790"/>
            <a:ext cx="527685" cy="231648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0"/>
          <p:cNvCxnSpPr>
            <a:stCxn id="5" idx="2"/>
            <a:endCxn id="10" idx="0"/>
          </p:cNvCxnSpPr>
          <p:nvPr/>
        </p:nvCxnSpPr>
        <p:spPr>
          <a:xfrm rot="5400000" flipV="1">
            <a:off x="6795135" y="1191895"/>
            <a:ext cx="528320" cy="241554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>
            <a:stCxn id="9" idx="2"/>
            <a:endCxn id="12" idx="0"/>
          </p:cNvCxnSpPr>
          <p:nvPr/>
        </p:nvCxnSpPr>
        <p:spPr>
          <a:xfrm rot="5400000" flipV="1">
            <a:off x="4429125" y="3799205"/>
            <a:ext cx="528320" cy="231648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/>
          <p:cNvCxnSpPr>
            <a:stCxn id="10" idx="2"/>
            <a:endCxn id="12" idx="0"/>
          </p:cNvCxnSpPr>
          <p:nvPr/>
        </p:nvCxnSpPr>
        <p:spPr>
          <a:xfrm rot="5400000">
            <a:off x="6795453" y="3749993"/>
            <a:ext cx="527685" cy="241554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Box 23"/>
          <p:cNvSpPr txBox="1"/>
          <p:nvPr/>
        </p:nvSpPr>
        <p:spPr>
          <a:xfrm>
            <a:off x="3639820" y="2047240"/>
            <a:ext cx="411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是</a:t>
            </a:r>
            <a:endParaRPr lang="zh-CN" altLang="en-US"/>
          </a:p>
        </p:txBody>
      </p:sp>
      <p:sp>
        <p:nvSpPr>
          <p:cNvPr id="25" name="Text Box 24"/>
          <p:cNvSpPr txBox="1"/>
          <p:nvPr/>
        </p:nvSpPr>
        <p:spPr>
          <a:xfrm>
            <a:off x="7651750" y="2047240"/>
            <a:ext cx="411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否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ext Box 5"/>
          <p:cNvSpPr txBox="1"/>
          <p:nvPr/>
        </p:nvSpPr>
        <p:spPr>
          <a:xfrm>
            <a:off x="7350760" y="1725930"/>
            <a:ext cx="1567180" cy="203009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r>
              <a:rPr lang="zh-CN" altLang="en-US"/>
              <a:t>处理器</a:t>
            </a:r>
            <a:endParaRPr lang="zh-CN" altLang="en-US"/>
          </a:p>
          <a:p>
            <a:pPr algn="ctr"/>
            <a:endParaRPr lang="zh-CN" altLang="en-US"/>
          </a:p>
          <a:p>
            <a:pPr algn="ctr"/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5061585" y="3175000"/>
            <a:ext cx="1425575" cy="3683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p>
            <a:pPr algn="ctr"/>
            <a:r>
              <a:rPr lang="zh-CN" altLang="en-US"/>
              <a:t>计算机程序</a:t>
            </a:r>
            <a:endParaRPr lang="zh-CN" altLang="en-US"/>
          </a:p>
        </p:txBody>
      </p:sp>
      <p:sp>
        <p:nvSpPr>
          <p:cNvPr id="5" name="Rectangles 4"/>
          <p:cNvSpPr/>
          <p:nvPr/>
        </p:nvSpPr>
        <p:spPr>
          <a:xfrm>
            <a:off x="4935855" y="1725930"/>
            <a:ext cx="1676400" cy="2030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dk1"/>
                </a:solidFill>
              </a14:hiddenFill>
            </a:ext>
          </a:ex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Rectangles 6"/>
          <p:cNvSpPr/>
          <p:nvPr/>
        </p:nvSpPr>
        <p:spPr>
          <a:xfrm>
            <a:off x="4264025" y="1082675"/>
            <a:ext cx="5591810" cy="3214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dk1"/>
                </a:solidFill>
              </a14:hiddenFill>
            </a:ext>
          </a:ex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4" name="Text Box 23"/>
          <p:cNvSpPr txBox="1"/>
          <p:nvPr/>
        </p:nvSpPr>
        <p:spPr>
          <a:xfrm>
            <a:off x="5340350" y="2218055"/>
            <a:ext cx="868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存储器</a:t>
            </a:r>
            <a:endParaRPr lang="zh-CN" altLang="en-US"/>
          </a:p>
        </p:txBody>
      </p:sp>
      <p:sp>
        <p:nvSpPr>
          <p:cNvPr id="8" name="Text Box 7"/>
          <p:cNvSpPr txBox="1"/>
          <p:nvPr/>
        </p:nvSpPr>
        <p:spPr>
          <a:xfrm>
            <a:off x="8428355" y="3928745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终端设备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356</Words>
  <Application>WPS Presentation</Application>
  <PresentationFormat>宽屏</PresentationFormat>
  <Paragraphs>62</Paragraphs>
  <Slides>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4" baseType="lpstr">
      <vt:lpstr>Arial</vt:lpstr>
      <vt:lpstr>SimSun</vt:lpstr>
      <vt:lpstr>Wingdings</vt:lpstr>
      <vt:lpstr>Times New Roman</vt:lpstr>
      <vt:lpstr>宋体</vt:lpstr>
      <vt:lpstr>Microsoft YaHei</vt:lpstr>
      <vt:lpstr>黑体</vt:lpstr>
      <vt:lpstr>Arial Unicode MS</vt:lpstr>
      <vt:lpstr>Arial Black</vt:lpstr>
      <vt:lpstr>Office Theme</vt:lpstr>
      <vt:lpstr>Visio.Drawing.11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autentico</dc:creator>
  <cp:lastModifiedBy>autentico</cp:lastModifiedBy>
  <cp:revision>66</cp:revision>
  <dcterms:created xsi:type="dcterms:W3CDTF">2026-09-18T04:33:54Z</dcterms:created>
  <dcterms:modified xsi:type="dcterms:W3CDTF">2026-09-18T04:33:54Z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